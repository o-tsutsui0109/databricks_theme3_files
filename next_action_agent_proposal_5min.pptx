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70B5C-7816-BF0D-96CF-050D0335F47B}" v="134" dt="2026-05-08T02:09:43.752"/>
    <p1510:client id="{47F34098-BD8B-B95D-B299-69076C0C797B}" v="79" dt="2026-05-08T01:18:17.171"/>
    <p1510:client id="{BA3B1AFC-8917-4AC1-8E4A-D4D67881C493}" v="4" dt="2026-05-08T04:10:56.070"/>
    <p1510:client id="{C902770B-89B7-46E5-A937-0D7A806A5741}" v="298" dt="2026-05-08T02:11:27.086"/>
    <p1510:client id="{D4678F52-510D-4FC7-96DD-5D2A7BDBDB00}" v="13" vWet="16" dt="2026-05-08T02:03:33.867"/>
    <p1510:client id="{F69FCAC9-742E-D7D3-760D-196EF81DEDDB}" v="98" dt="2026-05-08T01:38:10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08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955279" y="777240"/>
            <a:ext cx="3291840" cy="5074920"/>
          </a:xfrm>
          <a:prstGeom prst="round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83879" y="1005840"/>
            <a:ext cx="164592" cy="4617720"/>
          </a:xfrm>
          <a:prstGeom prst="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492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A2C44"/>
                </a:solidFill>
                <a:latin typeface="Yu Gothic"/>
              </a:defRPr>
            </a:pPr>
            <a:r>
              <a:t>次アクション提案エージェント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96E78"/>
                </a:solidFill>
                <a:latin typeface="Yu Gothic"/>
              </a:defRPr>
            </a:pPr>
            <a:r>
              <a:t>Databricks Agent Bricksで実現する現場アクション支援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3172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363636"/>
                </a:solidFill>
                <a:latin typeface="Yu Gothic"/>
              </a:defRPr>
            </a:pPr>
            <a:r>
              <a:t>解約防止・品質改善・納期遅延対策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63636"/>
                </a:solidFill>
                <a:latin typeface="Yu Gothic"/>
              </a:defRPr>
            </a:pPr>
            <a:r>
              <a:t>異常検知の先にある『何をするか』を現場までつなぐ</a:t>
            </a:r>
          </a:p>
          <a:p>
            <a:pPr>
              <a:defRPr sz="1400">
                <a:solidFill>
                  <a:srgbClr val="363636"/>
                </a:solidFill>
                <a:latin typeface="Yu Gothic"/>
              </a:defRPr>
            </a:pPr>
            <a:r>
              <a:t>優先案件の抽出から、推奨アクション・文面生成まで一気通貫で支援</a:t>
            </a:r>
          </a:p>
          <a:p>
            <a:pPr>
              <a:defRPr sz="1400">
                <a:solidFill>
                  <a:srgbClr val="363636"/>
                </a:solidFill>
                <a:latin typeface="Yu Gothic"/>
              </a:defRPr>
            </a:pPr>
            <a:r>
              <a:t>担当者の判断を置き換えず、意思決定を標準化・高速化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1600200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rPr lang="ja-JP" altLang="en-US" err="1"/>
              <a:t>分析結果を</a:t>
            </a:r>
            <a:br/>
            <a:r>
              <a:rPr lang="ja-JP" altLang="en-US" err="1"/>
              <a:t>現場アクションへ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283464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Yu Gothic"/>
              </a:defRPr>
            </a:pPr>
            <a:r>
              <a:t>抽出</a:t>
            </a:r>
            <a:br/>
            <a:r>
              <a:t>原因候補</a:t>
            </a:r>
            <a:br/>
            <a:r>
              <a:t>推奨アクション</a:t>
            </a:r>
            <a:br/>
            <a:r>
              <a:t>文面生成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8348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Yu Gothic"/>
              </a:defRPr>
            </a:pPr>
            <a:r>
              <a:t>PoCから短期立上げ可能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473952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17E"/>
                </a:solidFill>
                <a:latin typeface="Yu Gothic"/>
              </a:defRPr>
            </a:pPr>
            <a:r>
              <a:t>Databricks Agent Bricks | 5分提案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C44"/>
                </a:solidFill>
                <a:latin typeface="Yu Gothic"/>
              </a:defRPr>
            </a:pPr>
            <a:r>
              <a:t>お客様の課題</a:t>
            </a:r>
          </a:p>
          <a:p>
            <a:pPr>
              <a:defRPr sz="1100">
                <a:solidFill>
                  <a:srgbClr val="67717E"/>
                </a:solidFill>
                <a:latin typeface="Yu Gothic"/>
              </a:defRPr>
            </a:pPr>
            <a:r>
              <a:t>異常は見えるが、次に何をすべきか分からない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" y="1371600"/>
            <a:ext cx="10771632" cy="909828"/>
          </a:xfrm>
          <a:prstGeom prst="round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627631"/>
            <a:ext cx="1066495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rPr err="1"/>
              <a:t>ダッシュボードで異常は把握できる。しかし、対応優先度と具体アクションが決まらない</a:t>
            </a:r>
            <a: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42316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697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96E78"/>
                </a:solidFill>
                <a:latin typeface="Yu Gothic"/>
              </a:defRPr>
            </a:pPr>
            <a:r>
              <a:t>見える化はできている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3154680"/>
            <a:ext cx="2697480" cy="438912"/>
          </a:xfrm>
          <a:prstGeom prst="round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322783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63636"/>
                </a:solidFill>
                <a:latin typeface="Yu Gothic"/>
              </a:defRPr>
            </a:pPr>
            <a:r>
              <a:t>解約リスク上昇</a:t>
            </a:r>
          </a:p>
        </p:txBody>
      </p:sp>
      <p:sp>
        <p:nvSpPr>
          <p:cNvPr id="10" name="Oval 9"/>
          <p:cNvSpPr/>
          <p:nvPr/>
        </p:nvSpPr>
        <p:spPr>
          <a:xfrm>
            <a:off x="3419856" y="3246120"/>
            <a:ext cx="164592" cy="164592"/>
          </a:xfrm>
          <a:prstGeom prst="ellipse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78992" y="3867912"/>
            <a:ext cx="2697480" cy="438912"/>
          </a:xfrm>
          <a:prstGeom prst="round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3584" y="394106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63636"/>
                </a:solidFill>
                <a:latin typeface="Yu Gothic"/>
              </a:defRPr>
            </a:pPr>
            <a:r>
              <a:t>不良率の悪化</a:t>
            </a:r>
          </a:p>
        </p:txBody>
      </p:sp>
      <p:sp>
        <p:nvSpPr>
          <p:cNvPr id="13" name="Oval 12"/>
          <p:cNvSpPr/>
          <p:nvPr/>
        </p:nvSpPr>
        <p:spPr>
          <a:xfrm>
            <a:off x="3419856" y="3959352"/>
            <a:ext cx="164592" cy="164592"/>
          </a:xfrm>
          <a:prstGeom prst="ellipse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78992" y="4581144"/>
            <a:ext cx="2697480" cy="438912"/>
          </a:xfrm>
          <a:prstGeom prst="round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43584" y="4654296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63636"/>
                </a:solidFill>
                <a:latin typeface="Yu Gothic"/>
              </a:defRPr>
            </a:pPr>
            <a:r>
              <a:t>納期遅延アラート</a:t>
            </a:r>
          </a:p>
        </p:txBody>
      </p:sp>
      <p:sp>
        <p:nvSpPr>
          <p:cNvPr id="16" name="Oval 15"/>
          <p:cNvSpPr/>
          <p:nvPr/>
        </p:nvSpPr>
        <p:spPr>
          <a:xfrm>
            <a:off x="3419856" y="4672583"/>
            <a:ext cx="164592" cy="164592"/>
          </a:xfrm>
          <a:prstGeom prst="ellipse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4315968" y="3474720"/>
            <a:ext cx="914400" cy="1005840"/>
          </a:xfrm>
          <a:prstGeom prst="chevron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4572000"/>
            <a:ext cx="9144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0">
                <a:solidFill>
                  <a:srgbClr val="67717E"/>
                </a:solidFill>
                <a:latin typeface="Yu Gothic"/>
              </a:defRPr>
            </a:pPr>
            <a:r>
              <a:rPr lang="ja-JP" altLang="en-US">
                <a:ea typeface="Yu Gothic"/>
              </a:rPr>
              <a:t>しかし...</a:t>
            </a:r>
            <a:endParaRPr lang="en-US">
              <a:ea typeface="Yu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0" y="2468880"/>
            <a:ext cx="25603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2615184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2C44"/>
                </a:solidFill>
                <a:latin typeface="Yu Gothic"/>
              </a:defRPr>
            </a:pPr>
            <a:r>
              <a:t>現場アクションに落とせない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131820"/>
            <a:ext cx="22402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63636"/>
                </a:solidFill>
                <a:latin typeface="Yu Gothic"/>
              </a:defRPr>
            </a:pPr>
            <a:r>
              <a:rPr err="1"/>
              <a:t>異常の理由は見えても、誰が・何を・いつやるかが曖昧</a:t>
            </a:r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66760" y="2468880"/>
            <a:ext cx="25603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2615184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2C44"/>
                </a:solidFill>
                <a:latin typeface="Yu Gothic"/>
              </a:defRPr>
            </a:pPr>
            <a:r>
              <a:t>担当者の経験に依存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999232"/>
            <a:ext cx="22402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63636"/>
                </a:solidFill>
                <a:latin typeface="Yu Gothic"/>
              </a:defRPr>
            </a:pPr>
            <a:r>
              <a:rPr err="1"/>
              <a:t>ベテランは動けるが、判断軸が共有されず再現性が低い</a:t>
            </a: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0" y="4251960"/>
            <a:ext cx="25603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0" y="4398264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2C44"/>
                </a:solidFill>
                <a:latin typeface="Yu Gothic"/>
              </a:defRPr>
            </a:pPr>
            <a:r>
              <a:t>優先順位づけが難しい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800600"/>
            <a:ext cx="22402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63636"/>
                </a:solidFill>
                <a:latin typeface="Yu Gothic"/>
              </a:defRPr>
            </a:pPr>
            <a:r>
              <a:rPr err="1"/>
              <a:t>重要度・影響度・期限が混在し、着手順がぶれやすい</a:t>
            </a:r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66760" y="4251960"/>
            <a:ext cx="25603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4398264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A2C44"/>
                </a:solidFill>
                <a:latin typeface="Yu Gothic"/>
              </a:defRPr>
            </a:pPr>
            <a:r>
              <a:t>対応品質がばらつく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800600"/>
            <a:ext cx="224028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63636"/>
                </a:solidFill>
                <a:latin typeface="Yu Gothic"/>
              </a:defRPr>
            </a:pPr>
            <a:r>
              <a:rPr err="1"/>
              <a:t>顧客文面や現場指示が個人差に左右される</a:t>
            </a: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6473952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17E"/>
                </a:solidFill>
                <a:latin typeface="Yu Gothic"/>
              </a:defRPr>
            </a:pPr>
            <a:r>
              <a:t>Databricks Agent Bricks | 5分提案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C44"/>
                </a:solidFill>
                <a:latin typeface="Yu Gothic"/>
              </a:defRPr>
            </a:pPr>
            <a:r>
              <a:t>解決イメージ</a:t>
            </a:r>
          </a:p>
          <a:p>
            <a:pPr>
              <a:defRPr sz="1100">
                <a:solidFill>
                  <a:srgbClr val="67717E"/>
                </a:solidFill>
                <a:latin typeface="Yu Gothic"/>
              </a:defRPr>
            </a:pPr>
            <a:r>
              <a:t>Agent Bricksで『次に何をするか』まで提案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4057" y="3423892"/>
            <a:ext cx="475282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A2C44"/>
                </a:solidFill>
                <a:latin typeface="Yu Gothic"/>
              </a:defRPr>
            </a:pPr>
            <a:r>
              <a:rPr lang="ja-JP" altLang="en-US" sz="2500">
                <a:latin typeface="游ゴシック" panose="020B0400000000000000" pitchFamily="50" charset="-128"/>
                <a:ea typeface="游ゴシック" panose="020B0400000000000000" pitchFamily="50" charset="-128"/>
              </a:rPr>
              <a:t>分析で終わらせず、意思決定と初動実行を支援する。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473952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17E"/>
                </a:solidFill>
                <a:latin typeface="Yu Gothic"/>
              </a:defRPr>
            </a:pPr>
            <a:r>
              <a:t>Databricks Agent Bricks | 5分提案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85FFFDE-6351-2FE6-541F-CCA232A2F208}"/>
              </a:ext>
            </a:extLst>
          </p:cNvPr>
          <p:cNvGrpSpPr/>
          <p:nvPr/>
        </p:nvGrpSpPr>
        <p:grpSpPr>
          <a:xfrm>
            <a:off x="1422150" y="1317066"/>
            <a:ext cx="3991758" cy="5029654"/>
            <a:chOff x="5207508" y="-2267713"/>
            <a:chExt cx="3246120" cy="4096512"/>
          </a:xfrm>
        </p:grpSpPr>
        <p:sp>
          <p:nvSpPr>
            <p:cNvPr id="26" name="Rounded Rectangle 7"/>
            <p:cNvSpPr/>
            <p:nvPr/>
          </p:nvSpPr>
          <p:spPr>
            <a:xfrm>
              <a:off x="5207508" y="-2267713"/>
              <a:ext cx="3246120" cy="409651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9DF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7" name="TextBox 8"/>
            <p:cNvSpPr txBox="1"/>
            <p:nvPr/>
          </p:nvSpPr>
          <p:spPr>
            <a:xfrm>
              <a:off x="5445252" y="-2057402"/>
              <a:ext cx="2743200" cy="23800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>
                <a:defRPr sz="1600" b="1">
                  <a:solidFill>
                    <a:srgbClr val="1A2C44"/>
                  </a:solidFill>
                  <a:latin typeface="Yu Gothic"/>
                </a:defRPr>
              </a:pPr>
              <a:r>
                <a:rPr lang="ja-JP" altLang="en-US" sz="1400">
                  <a:ea typeface="Yu Gothic"/>
                </a:rPr>
                <a:t>処理の流れ</a:t>
              </a:r>
            </a:p>
          </p:txBody>
        </p:sp>
        <p:sp>
          <p:nvSpPr>
            <p:cNvPr id="28" name="Oval 9"/>
            <p:cNvSpPr/>
            <p:nvPr/>
          </p:nvSpPr>
          <p:spPr>
            <a:xfrm>
              <a:off x="5426964" y="-1691641"/>
              <a:ext cx="292608" cy="292608"/>
            </a:xfrm>
            <a:prstGeom prst="ellipse">
              <a:avLst/>
            </a:prstGeom>
            <a:solidFill>
              <a:srgbClr val="E7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9" name="TextBox 10"/>
            <p:cNvSpPr txBox="1"/>
            <p:nvPr/>
          </p:nvSpPr>
          <p:spPr>
            <a:xfrm>
              <a:off x="5426964" y="-1664209"/>
              <a:ext cx="292608" cy="26280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Yu Gothic"/>
                </a:defRPr>
              </a:pPr>
              <a:r>
                <a:rPr sz="1200"/>
                <a:t>1</a:t>
              </a:r>
            </a:p>
          </p:txBody>
        </p:sp>
        <p:sp>
          <p:nvSpPr>
            <p:cNvPr id="30" name="TextBox 11"/>
            <p:cNvSpPr txBox="1"/>
            <p:nvPr/>
          </p:nvSpPr>
          <p:spPr>
            <a:xfrm>
              <a:off x="5829300" y="-1764037"/>
              <a:ext cx="2148840" cy="2618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363636"/>
                  </a:solidFill>
                  <a:latin typeface="Yu Gothic"/>
                </a:defRPr>
              </a:pPr>
              <a:r>
                <a:rPr lang="ja-JP" altLang="en-US" sz="1600" b="1">
                  <a:solidFill>
                    <a:srgbClr val="363636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テーマ判定</a:t>
              </a:r>
              <a:endParaRPr lang="en-US" sz="1600" b="1">
                <a:solidFill>
                  <a:srgbClr val="363636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1" name="TextBox 12"/>
            <p:cNvSpPr txBox="1"/>
            <p:nvPr/>
          </p:nvSpPr>
          <p:spPr>
            <a:xfrm>
              <a:off x="5829300" y="-1508761"/>
              <a:ext cx="2240280" cy="21420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>
                <a:defRPr sz="950" b="0">
                  <a:solidFill>
                    <a:srgbClr val="67717E"/>
                  </a:solidFill>
                  <a:latin typeface="Yu Gothic"/>
                </a:defRPr>
              </a:pPr>
              <a:r>
                <a:rPr lang="ja-JP" altLang="en-US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ユーザーの質問から業務テーマを判定</a:t>
              </a:r>
              <a:endParaRPr lang="en-US" sz="120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2" name="Oval 13"/>
            <p:cNvSpPr/>
            <p:nvPr/>
          </p:nvSpPr>
          <p:spPr>
            <a:xfrm>
              <a:off x="5426964" y="-1033273"/>
              <a:ext cx="292608" cy="292608"/>
            </a:xfrm>
            <a:prstGeom prst="ellipse">
              <a:avLst/>
            </a:prstGeom>
            <a:solidFill>
              <a:srgbClr val="E7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TextBox 14"/>
            <p:cNvSpPr txBox="1"/>
            <p:nvPr/>
          </p:nvSpPr>
          <p:spPr>
            <a:xfrm>
              <a:off x="5426964" y="-1005842"/>
              <a:ext cx="292608" cy="21420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Yu Gothic"/>
                </a:defRPr>
              </a:pPr>
              <a:r>
                <a:rPr sz="1200"/>
                <a:t>2</a:t>
              </a:r>
            </a:p>
          </p:txBody>
        </p:sp>
        <p:sp>
          <p:nvSpPr>
            <p:cNvPr id="34" name="TextBox 15"/>
            <p:cNvSpPr txBox="1"/>
            <p:nvPr/>
          </p:nvSpPr>
          <p:spPr>
            <a:xfrm>
              <a:off x="5829300" y="-1084888"/>
              <a:ext cx="2148840" cy="2618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200" b="1">
                  <a:solidFill>
                    <a:srgbClr val="363636"/>
                  </a:solidFill>
                  <a:latin typeface="Yu Gothic"/>
                </a:defRPr>
              </a:pPr>
              <a:r>
                <a:rPr lang="ja-JP" altLang="en-US" sz="160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テンプレート取得</a:t>
              </a:r>
              <a:endParaRPr sz="160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5" name="TextBox 16"/>
            <p:cNvSpPr txBox="1"/>
            <p:nvPr/>
          </p:nvSpPr>
          <p:spPr>
            <a:xfrm>
              <a:off x="5829300" y="-850393"/>
              <a:ext cx="2359152" cy="21420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950" b="0">
                  <a:solidFill>
                    <a:srgbClr val="67717E"/>
                  </a:solidFill>
                  <a:latin typeface="Yu Gothic"/>
                </a:defRPr>
              </a:pPr>
              <a:r>
                <a:rPr lang="ja-JP" altLang="en-US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該当テーマの正式なテンプレートを取得</a:t>
              </a:r>
              <a:endParaRPr sz="120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6" name="Oval 17"/>
            <p:cNvSpPr/>
            <p:nvPr/>
          </p:nvSpPr>
          <p:spPr>
            <a:xfrm>
              <a:off x="5426964" y="-374905"/>
              <a:ext cx="292608" cy="292608"/>
            </a:xfrm>
            <a:prstGeom prst="ellipse">
              <a:avLst/>
            </a:prstGeom>
            <a:solidFill>
              <a:srgbClr val="E7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7" name="TextBox 18"/>
            <p:cNvSpPr txBox="1"/>
            <p:nvPr/>
          </p:nvSpPr>
          <p:spPr>
            <a:xfrm>
              <a:off x="5426964" y="-347473"/>
              <a:ext cx="292608" cy="21420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Yu Gothic"/>
                </a:defRPr>
              </a:pPr>
              <a:r>
                <a:rPr sz="1200"/>
                <a:t>3</a:t>
              </a:r>
            </a:p>
          </p:txBody>
        </p:sp>
        <p:sp>
          <p:nvSpPr>
            <p:cNvPr id="38" name="TextBox 19"/>
            <p:cNvSpPr txBox="1"/>
            <p:nvPr/>
          </p:nvSpPr>
          <p:spPr>
            <a:xfrm>
              <a:off x="5829300" y="245547"/>
              <a:ext cx="2148840" cy="2618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363636"/>
                  </a:solidFill>
                  <a:latin typeface="Yu Gothic"/>
                </a:defRPr>
              </a:pPr>
              <a:r>
                <a:rPr lang="ja-JP" altLang="en-US" sz="160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テンプレート適用</a:t>
              </a:r>
              <a:endParaRPr sz="160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39" name="TextBox 20"/>
            <p:cNvSpPr txBox="1"/>
            <p:nvPr/>
          </p:nvSpPr>
          <p:spPr>
            <a:xfrm>
              <a:off x="5829300" y="489203"/>
              <a:ext cx="2240280" cy="21420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950" b="0">
                  <a:solidFill>
                    <a:srgbClr val="67717E"/>
                  </a:solidFill>
                  <a:latin typeface="Yu Gothic"/>
                </a:defRPr>
              </a:pPr>
              <a:r>
                <a:rPr lang="ja-JP" altLang="en-US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テンプレートの項目に当てはめます</a:t>
              </a:r>
            </a:p>
          </p:txBody>
        </p:sp>
        <p:sp>
          <p:nvSpPr>
            <p:cNvPr id="40" name="Oval 21"/>
            <p:cNvSpPr/>
            <p:nvPr/>
          </p:nvSpPr>
          <p:spPr>
            <a:xfrm>
              <a:off x="5426964" y="283463"/>
              <a:ext cx="292608" cy="292608"/>
            </a:xfrm>
            <a:prstGeom prst="ellipse">
              <a:avLst/>
            </a:prstGeom>
            <a:solidFill>
              <a:srgbClr val="E77D3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1" name="TextBox 22"/>
            <p:cNvSpPr txBox="1"/>
            <p:nvPr/>
          </p:nvSpPr>
          <p:spPr>
            <a:xfrm>
              <a:off x="5426964" y="310895"/>
              <a:ext cx="292608" cy="21420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Yu Gothic"/>
                </a:defRPr>
              </a:pPr>
              <a:r>
                <a:rPr sz="1200"/>
                <a:t>4</a:t>
              </a:r>
            </a:p>
          </p:txBody>
        </p:sp>
        <p:sp>
          <p:nvSpPr>
            <p:cNvPr id="42" name="TextBox 23"/>
            <p:cNvSpPr txBox="1"/>
            <p:nvPr/>
          </p:nvSpPr>
          <p:spPr>
            <a:xfrm>
              <a:off x="5829300" y="-448472"/>
              <a:ext cx="2148840" cy="2618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363636"/>
                  </a:solidFill>
                  <a:latin typeface="Yu Gothic"/>
                </a:defRPr>
              </a:pPr>
              <a:r>
                <a:rPr lang="ja-JP" altLang="en-US" sz="160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データ取得</a:t>
              </a:r>
              <a:endParaRPr sz="160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3" name="TextBox 24"/>
            <p:cNvSpPr txBox="1"/>
            <p:nvPr/>
          </p:nvSpPr>
          <p:spPr>
            <a:xfrm>
              <a:off x="5829300" y="-201952"/>
              <a:ext cx="2240280" cy="3570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950" b="0">
                  <a:solidFill>
                    <a:srgbClr val="67717E"/>
                  </a:solidFill>
                  <a:latin typeface="Yu Gothic"/>
                </a:defRPr>
              </a:pPr>
              <a:r>
                <a:rPr lang="ja-JP" altLang="en-US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データ分析エージェントを呼び出して、必要なデータを取得します。</a:t>
              </a:r>
              <a:endParaRPr sz="120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4" name="Oval 25"/>
            <p:cNvSpPr/>
            <p:nvPr/>
          </p:nvSpPr>
          <p:spPr>
            <a:xfrm>
              <a:off x="5426964" y="941831"/>
              <a:ext cx="292608" cy="292608"/>
            </a:xfrm>
            <a:prstGeom prst="ellipse">
              <a:avLst/>
            </a:prstGeom>
            <a:solidFill>
              <a:srgbClr val="296E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26"/>
            <p:cNvSpPr txBox="1"/>
            <p:nvPr/>
          </p:nvSpPr>
          <p:spPr>
            <a:xfrm>
              <a:off x="5426964" y="969263"/>
              <a:ext cx="292608" cy="21420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Yu Gothic"/>
                </a:defRPr>
              </a:pPr>
              <a:r>
                <a:rPr sz="1200"/>
                <a:t>5</a:t>
              </a:r>
            </a:p>
          </p:txBody>
        </p:sp>
        <p:sp>
          <p:nvSpPr>
            <p:cNvPr id="46" name="TextBox 27"/>
            <p:cNvSpPr txBox="1"/>
            <p:nvPr/>
          </p:nvSpPr>
          <p:spPr>
            <a:xfrm>
              <a:off x="5829300" y="909707"/>
              <a:ext cx="2148840" cy="2618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1">
                  <a:solidFill>
                    <a:srgbClr val="363636"/>
                  </a:solidFill>
                  <a:latin typeface="Yu Gothic"/>
                </a:defRPr>
              </a:pPr>
              <a:r>
                <a:rPr lang="ja-JP" altLang="en-US" sz="160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出力</a:t>
              </a:r>
              <a:endParaRPr sz="160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47" name="TextBox 28"/>
            <p:cNvSpPr txBox="1"/>
            <p:nvPr/>
          </p:nvSpPr>
          <p:spPr>
            <a:xfrm>
              <a:off x="5829300" y="1124711"/>
              <a:ext cx="2240280" cy="4998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950" b="0">
                  <a:solidFill>
                    <a:srgbClr val="67717E"/>
                  </a:solidFill>
                  <a:latin typeface="Yu Gothic"/>
                </a:defRPr>
              </a:pPr>
              <a:r>
                <a:rPr lang="ja-JP" altLang="en-US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優先度（</a:t>
              </a:r>
              <a:r>
                <a:rPr lang="en-US" altLang="ja-JP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Priority A/B/C</a:t>
              </a:r>
              <a:r>
                <a:rPr lang="ja-JP" altLang="en-US" sz="1200">
                  <a:solidFill>
                    <a:srgbClr val="000000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）を判定し、現場がすぐに行動できる形で推奨アクションを提示します。</a:t>
              </a:r>
              <a:endParaRPr sz="1200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3877985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C44"/>
                </a:solidFill>
                <a:latin typeface="Yu Gothic"/>
              </a:defRPr>
            </a:pPr>
            <a:r>
              <a:rPr lang="ja-JP" altLang="en-US" sz="2400" b="1">
                <a:latin typeface="游ゴシック" panose="020B0400000000000000" pitchFamily="50" charset="-128"/>
                <a:ea typeface="游ゴシック" panose="020B0400000000000000" pitchFamily="50" charset="-128"/>
              </a:rPr>
              <a:t>実際の出力例と処理フロー</a:t>
            </a:r>
            <a:endParaRPr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defRPr sz="1100">
                <a:solidFill>
                  <a:srgbClr val="67717E"/>
                </a:solidFill>
                <a:latin typeface="Yu Gothic"/>
              </a:defRPr>
            </a:pPr>
            <a:r>
              <a:rPr lang="ja-JP" altLang="en-US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分析結果が、実際の対応案に変わる流れをご覧ください</a:t>
            </a:r>
            <a:endParaRPr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52560" y="6473952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17E"/>
                </a:solidFill>
                <a:latin typeface="Yu Gothic"/>
              </a:defRPr>
            </a:pPr>
            <a:r>
              <a:t>Databricks Agent Bricks | 5分提案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4F26F-E695-684F-4927-1C7AEC92D02B}"/>
              </a:ext>
            </a:extLst>
          </p:cNvPr>
          <p:cNvSpPr txBox="1"/>
          <p:nvPr/>
        </p:nvSpPr>
        <p:spPr>
          <a:xfrm>
            <a:off x="4903101" y="3105834"/>
            <a:ext cx="23854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3600" b="1">
                <a:latin typeface="游ゴシック" panose="020B0400000000000000" pitchFamily="50" charset="-128"/>
                <a:ea typeface="游ゴシック" panose="020B0400000000000000" pitchFamily="50" charset="-128"/>
                <a:cs typeface="Calibri"/>
              </a:rPr>
              <a:t>画面共有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C44"/>
                </a:solidFill>
                <a:latin typeface="Yu Gothic"/>
              </a:defRPr>
            </a:pPr>
            <a:r>
              <a:t>次の進め方</a:t>
            </a:r>
          </a:p>
          <a:p>
            <a:pPr>
              <a:defRPr sz="1100">
                <a:solidFill>
                  <a:srgbClr val="67717E"/>
                </a:solidFill>
                <a:latin typeface="Yu Gothic"/>
              </a:defRPr>
            </a:pPr>
            <a:r>
              <a:t>まずは1業務でPoCし、2〜4週間で効果確認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41732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A2C44"/>
                </a:solidFill>
                <a:latin typeface="Yu Gothic"/>
              </a:defRPr>
            </a:pPr>
            <a:r>
              <a:t>PoCの進め方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2356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96E78"/>
                </a:solidFill>
                <a:latin typeface="Yu Gothic"/>
              </a:defRPr>
            </a:pPr>
            <a:r>
              <a:t>まずは『異常検知後の次アクション提案』から実証し、現場展開につなげる</a:t>
            </a:r>
          </a:p>
        </p:txBody>
      </p:sp>
      <p:sp>
        <p:nvSpPr>
          <p:cNvPr id="6" name="Oval 5"/>
          <p:cNvSpPr/>
          <p:nvPr/>
        </p:nvSpPr>
        <p:spPr>
          <a:xfrm>
            <a:off x="896112" y="1984248"/>
            <a:ext cx="384048" cy="384048"/>
          </a:xfrm>
          <a:prstGeom prst="ellipse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65960"/>
            <a:ext cx="501091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075688"/>
            <a:ext cx="46817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2C44"/>
                </a:solidFill>
                <a:latin typeface="Yu Gothic"/>
              </a:defRPr>
            </a:pPr>
            <a:r>
              <a:t>対象業務を決定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68296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63636"/>
                </a:solidFill>
                <a:latin typeface="Yu Gothic"/>
              </a:defRPr>
            </a:pPr>
            <a:r>
              <a:t>解約防止 / 品質改善 / 納期遅延のいずれか1テーマを選定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88136" y="2377440"/>
            <a:ext cx="0" cy="365760"/>
          </a:xfrm>
          <a:prstGeom prst="line">
            <a:avLst/>
          </a:prstGeom>
          <a:ln w="25400">
            <a:solidFill>
              <a:srgbClr val="E9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96112" y="2825496"/>
            <a:ext cx="384048" cy="384048"/>
          </a:xfrm>
          <a:prstGeom prst="ellipse">
            <a:avLst/>
          </a:prstGeom>
          <a:solidFill>
            <a:srgbClr val="2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852928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807208"/>
            <a:ext cx="501091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2916936"/>
            <a:ext cx="46817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2C44"/>
                </a:solidFill>
                <a:latin typeface="Yu Gothic"/>
              </a:defRPr>
            </a:pPr>
            <a:r>
              <a:t>対象データを確認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9544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63636"/>
                </a:solidFill>
                <a:latin typeface="Yu Gothic"/>
              </a:defRPr>
            </a:pPr>
            <a:r>
              <a:t>アラート、履歴、顧客情報、対応記録の利用可否を整理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8136" y="3218688"/>
            <a:ext cx="0" cy="365760"/>
          </a:xfrm>
          <a:prstGeom prst="line">
            <a:avLst/>
          </a:prstGeom>
          <a:ln w="25400">
            <a:solidFill>
              <a:srgbClr val="E9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96112" y="3666744"/>
            <a:ext cx="384048" cy="384048"/>
          </a:xfrm>
          <a:prstGeom prst="ellipse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694176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648456"/>
            <a:ext cx="501091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3758184"/>
            <a:ext cx="46817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2C44"/>
                </a:solidFill>
                <a:latin typeface="Yu Gothic"/>
              </a:defRPr>
            </a:pPr>
            <a:r>
              <a:t>評価指標を設定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50792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63636"/>
                </a:solidFill>
                <a:latin typeface="Yu Gothic"/>
              </a:defRPr>
            </a:pPr>
            <a:r>
              <a:t>初動時間、対応漏れ、継続率、再発率などをKPI化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8136" y="4059936"/>
            <a:ext cx="0" cy="365760"/>
          </a:xfrm>
          <a:prstGeom prst="line">
            <a:avLst/>
          </a:prstGeom>
          <a:ln w="25400">
            <a:solidFill>
              <a:srgbClr val="E9D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96112" y="4507992"/>
            <a:ext cx="384048" cy="384048"/>
          </a:xfrm>
          <a:prstGeom prst="ellipse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535424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489704"/>
            <a:ext cx="501091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9D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4480" y="4599432"/>
            <a:ext cx="46817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A2C44"/>
                </a:solidFill>
                <a:latin typeface="Yu Gothic"/>
              </a:defRPr>
            </a:pPr>
            <a:r>
              <a:t>2〜4週間で検証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92040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63636"/>
                </a:solidFill>
                <a:latin typeface="Yu Gothic"/>
              </a:defRPr>
            </a:pPr>
            <a:r>
              <a:t>推奨精度と業務効果を確認し、本番展開判断へ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1664208"/>
            <a:ext cx="4069080" cy="4251960"/>
          </a:xfrm>
          <a:prstGeom prst="roundRect">
            <a:avLst/>
          </a:prstGeom>
          <a:solidFill>
            <a:srgbClr val="1A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1938528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PoCで確認すること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Yu Gothic"/>
              </a:defRPr>
            </a:pPr>
            <a:r>
              <a:t>推奨アクションが現場で使えるか</a:t>
            </a:r>
          </a:p>
          <a:p>
            <a:pPr>
              <a:defRPr sz="1300">
                <a:solidFill>
                  <a:srgbClr val="FFFFFF"/>
                </a:solidFill>
                <a:latin typeface="Yu Gothic"/>
              </a:defRPr>
            </a:pPr>
            <a:r>
              <a:t>類似事例の根拠が納得感を持てるか</a:t>
            </a:r>
          </a:p>
          <a:p>
            <a:pPr>
              <a:defRPr sz="1300">
                <a:solidFill>
                  <a:srgbClr val="FFFFFF"/>
                </a:solidFill>
                <a:latin typeface="Yu Gothic"/>
              </a:defRPr>
            </a:pPr>
            <a:r>
              <a:t>文面生成が実運用に耐えるか</a:t>
            </a:r>
          </a:p>
          <a:p>
            <a:pPr>
              <a:defRPr sz="1300">
                <a:solidFill>
                  <a:srgbClr val="FFFFFF"/>
                </a:solidFill>
                <a:latin typeface="Yu Gothic"/>
              </a:defRPr>
            </a:pPr>
            <a:r>
              <a:t>初動速度と対応品質が改善するか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4800600"/>
            <a:ext cx="2880360" cy="658368"/>
          </a:xfrm>
          <a:prstGeom prst="roundRect">
            <a:avLst/>
          </a:prstGeom>
          <a:solidFill>
            <a:srgbClr val="E7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4983590"/>
            <a:ext cx="28803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rPr lang="ja-JP" altLang="en-US" err="1"/>
              <a:t>次回</a:t>
            </a:r>
            <a:r>
              <a:t>: </a:t>
            </a:r>
            <a:r>
              <a:rPr lang="ja-JP" altLang="en-US" err="1"/>
              <a:t>対象業務とデータ確認を実施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0" y="6473952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17E"/>
                </a:solidFill>
                <a:latin typeface="Yu Gothic"/>
              </a:defRPr>
            </a:pPr>
            <a:r>
              <a:t>Databricks Agent Bricks | 5分提案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cb8046-c664-4fc0-b544-79993b00cd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D1623F3452C8D4EA7B0056168EB8C6D" ma:contentTypeVersion="9" ma:contentTypeDescription="新しいドキュメントを作成します。" ma:contentTypeScope="" ma:versionID="5c47d7dc82583bd5ece36e876f381e65">
  <xsd:schema xmlns:xsd="http://www.w3.org/2001/XMLSchema" xmlns:xs="http://www.w3.org/2001/XMLSchema" xmlns:p="http://schemas.microsoft.com/office/2006/metadata/properties" xmlns:ns3="0ecb8046-c664-4fc0-b544-79993b00cdbb" targetNamespace="http://schemas.microsoft.com/office/2006/metadata/properties" ma:root="true" ma:fieldsID="ac6c0187edefeb890c2c32f2366a2e4d" ns3:_="">
    <xsd:import namespace="0ecb8046-c664-4fc0-b544-79993b00cdb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cb8046-c664-4fc0-b544-79993b00cdb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E6DD48-B02F-455F-8B46-933205FD1D8B}">
  <ds:schemaRefs>
    <ds:schemaRef ds:uri="0ecb8046-c664-4fc0-b544-79993b00cdbb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02925A2-9240-4FF8-BFC7-7F15CC5AD7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AC3E40-F5BC-43AA-9FFC-33C0C16DA183}">
  <ds:schemaRefs>
    <ds:schemaRef ds:uri="0ecb8046-c664-4fc0-b544-79993b00cd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ワイド画面</PresentationFormat>
  <Paragraphs>74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Knowledge Communication</dc:creator>
  <cp:keywords/>
  <dc:description>generated using python-pptx</dc:description>
  <cp:lastModifiedBy>筒井 理</cp:lastModifiedBy>
  <cp:revision>2</cp:revision>
  <dcterms:created xsi:type="dcterms:W3CDTF">2013-01-27T09:14:16Z</dcterms:created>
  <dcterms:modified xsi:type="dcterms:W3CDTF">2026-05-08T04:10:56Z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0x0101008D1623F3452C8D4EA7B0056168EB8C6D</vt:lpwstr>
  </property>
</Properties>
</file>